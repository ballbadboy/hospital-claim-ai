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716"/>
  </p:normalViewPr>
  <p:slideViewPr>
    <p:cSldViewPr snapToGrid="0" snapToObjects="1">
      <p:cViewPr varScale="1">
        <p:scale>
          <a:sx n="114" d="100"/>
          <a:sy n="114" d="100"/>
        </p:scale>
        <p:origin x="600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50292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0" y="11155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B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HIGH PERFORMANCE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Hospital Claim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333333"/>
                </a:solidFill>
                <a:latin typeface="Arial"/>
                <a:cs typeface="Arial"/>
              </a:rPr>
              <a:t>AI Claim Guardian — ลด Deny เพิ่มรายได้ ทำมากขึ้นด้วยทรัพยากรที่น้อยลง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Calibri"/>
              </a:defRPr>
            </a:pPr>
            <a:r>
              <a:rPr dirty="0" err="1">
                <a:solidFill>
                  <a:srgbClr val="333333"/>
                </a:solidFill>
                <a:latin typeface="Arial"/>
                <a:cs typeface="Arial"/>
              </a:rPr>
              <a:t>โรงพยาบาลพญาไทศรีราชา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| </a:t>
            </a:r>
            <a:r>
              <a:rPr dirty="0" err="1">
                <a:solidFill>
                  <a:srgbClr val="333333"/>
                </a:solidFill>
                <a:latin typeface="Arial"/>
                <a:cs typeface="Arial"/>
              </a:rPr>
              <a:t>รหัส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11855 | </a:t>
            </a:r>
            <a:r>
              <a:rPr dirty="0" err="1">
                <a:solidFill>
                  <a:srgbClr val="333333"/>
                </a:solidFill>
                <a:latin typeface="Arial"/>
                <a:cs typeface="Arial"/>
              </a:rPr>
              <a:t>เขต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333333"/>
                </a:solidFill>
                <a:latin typeface="Arial"/>
                <a:cs typeface="Arial"/>
              </a:rPr>
              <a:t>สปสช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. 6 </a:t>
            </a:r>
            <a:r>
              <a:rPr dirty="0" err="1">
                <a:solidFill>
                  <a:srgbClr val="333333"/>
                </a:solidFill>
                <a:latin typeface="Arial"/>
                <a:cs typeface="Arial"/>
              </a:rPr>
              <a:t>ระยอง</a:t>
            </a:r>
            <a:endParaRPr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667512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b="1" dirty="0" err="1">
                <a:solidFill>
                  <a:srgbClr val="333333"/>
                </a:solidFill>
                <a:latin typeface="Arial"/>
                <a:cs typeface="Arial"/>
              </a:rPr>
              <a:t>ทีมพัฒนา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b="1" dirty="0" err="1">
                <a:solidFill>
                  <a:srgbClr val="333333"/>
                </a:solidFill>
                <a:latin typeface="Arial"/>
                <a:cs typeface="Arial"/>
              </a:rPr>
              <a:t>แผนกศัลยกรรมหัวใจและทรวงอก</a:t>
            </a:r>
            <a:endParaRPr b="1" dirty="0">
              <a:solidFill>
                <a:srgbClr val="333333"/>
              </a:solidFill>
              <a:latin typeface="Arial"/>
              <a:cs typeface="Arial"/>
            </a:endParaRPr>
          </a:p>
          <a:p>
            <a:pPr algn="ctr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b="1" dirty="0" err="1">
                <a:solidFill>
                  <a:srgbClr val="333333"/>
                </a:solidFill>
                <a:latin typeface="Arial"/>
                <a:cs typeface="Arial"/>
              </a:rPr>
              <a:t>นพ.เกษมสันต์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333333"/>
                </a:solidFill>
                <a:latin typeface="Arial"/>
                <a:cs typeface="Arial"/>
              </a:rPr>
              <a:t>เกษมวงศ์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 | </a:t>
            </a:r>
            <a:r>
              <a:rPr b="1" dirty="0" err="1">
                <a:solidFill>
                  <a:srgbClr val="333333"/>
                </a:solidFill>
                <a:latin typeface="Arial"/>
                <a:cs typeface="Arial"/>
              </a:rPr>
              <a:t>หัวหน้าโครงการ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 | </a:t>
            </a:r>
            <a:r>
              <a:rPr b="1" dirty="0" err="1">
                <a:solidFill>
                  <a:srgbClr val="333333"/>
                </a:solidFill>
                <a:latin typeface="Arial"/>
                <a:cs typeface="Arial"/>
              </a:rPr>
              <a:t>รหัสพนักงาน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 3241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6419088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The Ppitch Awards 2026  |  G5 Passion to Innovate  |  BDMS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Pain Points — ทำไม Deny Rate ถึงเป็นปัญหาเรื้อรัง?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ICD Coding ไม่ตรง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รหัส ICD-10 ไม่สอดคล้องกับหัตถการ ICD-9-CM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เช่น STEMI ไม่มี PCI code → Deny ทันที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เอกสารอุปกรณ์ไม่ครบ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17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Stent serial/lot ไม่ตรง GPO/VMI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ADP file TYPE/CODE ผิด → HC09/HC13 Deny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ตรวจ Manual ช้า + ผิดพลาด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97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ใช้เวลา 15-30 นาที/เคส เปิดหลายระบบ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เจ้าหน้าที่ 1 คนดูแล 30-50 เคส/เดือน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212079"/>
            <a:ext cx="502920" cy="50292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212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อุทธรณ์ไม่ทัน ไม่เป็นระบบ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577839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มีเวลา 15 วันทำการ แต่ร่างหนังสือนาน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อัตราสำเร็จต่ำเพราะไม่มีข้อมูลอ้างอิง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537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ผลกระทบที่เกิดขึ้น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86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~10%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Deny Rate ปัจจุบัน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91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1.8-4.8M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บาท/ปี สูญเสียจาก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297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15-30 นาที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ต่อเคส ตรวจ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3035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1-2 ชม.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806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ร่าง Appeal 1 เคส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Solution — AI Claim Guardian ตรวจ 8 จุด ก่อนส่งเบิก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ข้อมูลพื้นฐาน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PDx, CID 13 หลัก, วันที่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Dx-Proc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ICD-10 ↔ ICD-9-CM สอดคล้อง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69480" y="1554480"/>
            <a:ext cx="640080" cy="640080"/>
          </a:xfrm>
          <a:prstGeom prst="ellipse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เอกสารอุปกรณ์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Stent serial, GPO/VMI, ADP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37160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49840" y="1554480"/>
            <a:ext cx="640080" cy="640080"/>
          </a:xfrm>
          <a:prstGeom prst="ellipse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FDH 16-File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88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Format, LOS, Admit &lt; D/C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08760" y="4114800"/>
            <a:ext cx="640080" cy="64008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Timing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ส่งภายใน 30 วัน + Authen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93192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389120" y="4114800"/>
            <a:ext cx="640080" cy="64008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CC/MCC Optimize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49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หา coding เพิ่ม DRG weight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93192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69480" y="4114800"/>
            <a:ext cx="640080" cy="64008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DRG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49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Group ถูกต้อง, RW เหมาะสม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931920"/>
            <a:ext cx="2651760" cy="2194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Drug/Lab 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349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TMT code ตรง Drug Catalog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Product Innovation — 6 ฟีเจอร์ที่แตกต่าง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468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36576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/claim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ตรวจก่อนส่ง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8 checkpoints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Score 0-100%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CRITICAL/WARNING/PASS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2468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2011680" cy="36576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/claim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ทำนาย 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10 Risk Factors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SAFE → ALMOST_CERTAIN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Estimated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2468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1463040"/>
            <a:ext cx="2011680" cy="36576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/claim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Smart 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Clinical Notes → ICD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Thai/EN auto-detect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CC/MCC optimize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474720" cy="2468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2011680" cy="36576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/claim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วิเคราะห์ Deny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Root cause analysis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6 categories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Fix steps + recovery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023360"/>
            <a:ext cx="3474720" cy="2468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26280" y="4206240"/>
            <a:ext cx="2011680" cy="36576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/claim appeal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ร่าง Appeal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1206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ภาษาราชการไทย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DOCX พร้อมพิมพ์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อ้าง guideline สปสช.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023360"/>
            <a:ext cx="3474720" cy="2468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4206240"/>
            <a:ext cx="2011680" cy="36576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/claim 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Batch Optimize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1206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Upload CSV ตรวจทั้งล็อต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Priority ตามมูลค่า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Action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Benchmark — ก่อน vs หลังใช้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3474720" cy="45720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BEFORE — Manual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3E3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ตรวจ 15-30 นาที/เคส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3E3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เปิดหลายระบบ เทียบข้อมูลด้วยตา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3E3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Deny Rate ~10%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3E3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ร่าง Appeal 1-2 ชั่วโมง/เคส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3E3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ไม่มี CC/MCC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3E3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สูญเสีย 1.8-4.8 ล้านบาท/ปี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0" y="1371600"/>
            <a:ext cx="3474720" cy="45720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AFTER — AI Claim Guardian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A86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ตรวจ &lt; 5 นาที/เคส (-83%)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A86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AI ตรวจอัตโนมัติ 8 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A86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Deny Rate &lt; 3% (เป้าหมาย)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94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A86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ร่าง Appeal 5 นาที + 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A86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CC/MCC optimize +5-15% RW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983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A86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เพิ่มรายได้ ~2.5 ล้านบาท/ปี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Case Study — เคสจริง STEMI + Primary PCI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 b="1" dirty="0">
                <a:solidFill>
                  <a:srgbClr val="003A70"/>
                </a:solidFill>
                <a:latin typeface="Georgia"/>
              </a:rPr>
              <a:t>AN </a:t>
            </a:r>
            <a:r>
              <a:rPr lang="en-US" b="1" dirty="0">
                <a:solidFill>
                  <a:srgbClr val="003A70"/>
                </a:solidFill>
                <a:latin typeface="Georgia"/>
              </a:rPr>
              <a:t>xx-</a:t>
            </a:r>
            <a:r>
              <a:rPr lang="en-US" b="1" dirty="0" err="1">
                <a:solidFill>
                  <a:srgbClr val="003A70"/>
                </a:solidFill>
                <a:latin typeface="Georgia"/>
              </a:rPr>
              <a:t>xxxxx</a:t>
            </a:r>
            <a:r>
              <a:rPr b="1" dirty="0">
                <a:solidFill>
                  <a:srgbClr val="003A70"/>
                </a:solidFill>
                <a:latin typeface="Georgia"/>
              </a:rPr>
              <a:t> | HN </a:t>
            </a:r>
            <a:r>
              <a:rPr lang="en-US" b="1" dirty="0" err="1">
                <a:solidFill>
                  <a:srgbClr val="003A70"/>
                </a:solidFill>
                <a:latin typeface="Georgia"/>
              </a:rPr>
              <a:t>yy</a:t>
            </a:r>
            <a:r>
              <a:rPr b="1" dirty="0" err="1">
                <a:solidFill>
                  <a:srgbClr val="003A70"/>
                </a:solidFill>
                <a:latin typeface="Georgia"/>
              </a:rPr>
              <a:t>-</a:t>
            </a:r>
            <a:r>
              <a:rPr lang="en-US" b="1" dirty="0" err="1">
                <a:solidFill>
                  <a:srgbClr val="003A70"/>
                </a:solidFill>
                <a:latin typeface="Georgia"/>
              </a:rPr>
              <a:t>yyyyy</a:t>
            </a:r>
            <a:endParaRPr b="1" dirty="0">
              <a:solidFill>
                <a:srgbClr val="003A70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8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PDx: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I21.0 — Acute transmural MI anterior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8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Proc: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36.06 (Stent), 37.22 (L Cath), 88.56 (Angio)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8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DRG: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926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05290 — Acute MI w single vessel PTCA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8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RW: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8.6544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8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Charge: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931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71,322 บาท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8B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Admit: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27 ก.พ. 2569 → D/C 1 มี.ค. 2569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4937760" cy="45720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Deny: HC09 (อุปกรณ์) + HC13 (เอกสาร) + Drug Code ไม่ตรง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AI Claim Guardian ตรวจพบ: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ADP file: TYPE ต้องเป็น 5 (อวัยวะเทียม)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Serial/Lot ต้องตรง GPO VMI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Clopidogrel: TMT code ไม่ตรง Drug Catalog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65759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แนะนำ: แก้ ADP + DRU file แล้วส่งใหม่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206240"/>
            <a:ext cx="2286000" cy="164592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Deny Risk (ก่อนแก้)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4206240"/>
            <a:ext cx="2286000" cy="164592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Deny Risk (หลังแก้)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Results — ผลลัพธ์ที่ได้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201168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&gt;90%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อัตราเบิกผ่านเพิ่มขึ้น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651760" cy="201168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5-15%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DRG Weight เพิ่มขึ้น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51760" cy="201168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-83%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ลดเวลาตรวจ claim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371600"/>
            <a:ext cx="2651760" cy="201168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2.5M+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บาท/ปี รายได้เพิ่ม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เวลาตรวจ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15-30 นาที → &lt; 5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ลด 67-83%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เวลาร่าง Appeal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1-2 ชั่วโมง → 5 นาที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ลด 90%+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ครอบคลุม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9 แผนก + 3 กองทุน สปสช.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20 AI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7607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25+ ไฟล์ Thai DRG + ICD + สปสช.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760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อัพเดตได้ตลอด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Georgia"/>
              </a:rPr>
              <a:t>Market Opportunity &amp;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B8B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BDMS Network: 50+ โรงพยาบาล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IP Claims ทั้งประเทศ: ~8 ล้านเคส/ปี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งบ UC รายหัว: ~4,100 บาท (+12% 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สปสช. ใช้ AI/OCR ตรวจ claim → รพ. ต้องใช้ AI สู้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035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B8B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ความร่วมมือ (Co-creation)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ทีม Cath Lab: ให้ข้อมูล clinical + validate ผล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ทีม IT: ระบบ HIS (SSB) +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ทีม UR/Coder: ทดสอบ + feedback ทุกสัปดาห์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  สปสช.: อ้างอิง Thai DRG v6.3.3 + FDH spec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1106424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3B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Scaling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2468880" cy="182880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Phase 1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Q3-Q4/69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ขยายจาก Cath Lab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→ ทุก 9 แผนก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ภายใน รพ.พญาไทศรีราชา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480560"/>
            <a:ext cx="2468880" cy="182880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Phase 2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ปี 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Sandbox 3-5 รพ.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ใน BDMS Network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Train-the-Trainer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480560"/>
            <a:ext cx="2468880" cy="182880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Phase 3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ปี 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SaaS Platform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Cloud-based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API + HIS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79" y="4480560"/>
            <a:ext cx="2468880" cy="182880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79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Phase 4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ปี 72-73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เปิดให้ รพ. นอกเครือ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Predictive Analytics</a:t>
            </a:r>
            <a:br>
              <a:rPr>
                <a:solidFill>
                  <a:srgbClr val="FFFFFF"/>
                </a:solidFill>
                <a:latin typeface="Arial"/>
                <a:cs typeface="Arial"/>
              </a:rPr>
            </a:br>
            <a:r>
              <a:rPr>
                <a:solidFill>
                  <a:srgbClr val="FFFFFF"/>
                </a:solidFill>
                <a:latin typeface="Arial"/>
                <a:cs typeface="Arial"/>
              </a:rPr>
              <a:t>NLP Thai Clinical Notes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Vision — AI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จาก Claim AI → สมองกลางบริหาร รพ. ทั้งระบบ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108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17520" y="1645920"/>
            <a:ext cx="822960" cy="27432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1645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Claim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ลด Deny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เพิ่มรายได้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108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822960" cy="27432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Bed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จัดเตียง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ลด Wait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108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49840" y="1645920"/>
            <a:ext cx="822960" cy="274320"/>
          </a:xfrm>
          <a:prstGeom prst="round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0" y="1645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Staff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488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จัดเวร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ลด OT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31920"/>
            <a:ext cx="3108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017520" y="4023360"/>
            <a:ext cx="822960" cy="27432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4023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Supply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คลังยา/วัสดุ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ลด Stock-out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931920"/>
            <a:ext cx="3108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0" y="4023360"/>
            <a:ext cx="822960" cy="27432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Finance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งบประมาณ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Cashflow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931920"/>
            <a:ext cx="3108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49840" y="4023360"/>
            <a:ext cx="822960" cy="27432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49840" y="4023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  <a:latin typeface="Arial"/>
                <a:cs typeface="Arial"/>
              </a:rPr>
              <a:t>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Quality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JCI/HA</a:t>
            </a:r>
            <a:br>
              <a:rPr>
                <a:solidFill>
                  <a:srgbClr val="1A1A1A"/>
                </a:solidFill>
                <a:latin typeface="Arial"/>
                <a:cs typeface="Arial"/>
              </a:rPr>
            </a:br>
            <a:r>
              <a:rPr>
                <a:solidFill>
                  <a:srgbClr val="1A1A1A"/>
                </a:solidFill>
                <a:latin typeface="Arial"/>
                <a:cs typeface="Arial"/>
              </a:rPr>
              <a:t>KPI Monitor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6126480"/>
            <a:ext cx="5760720" cy="548640"/>
          </a:xfrm>
          <a:prstGeom prst="round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0" y="622748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F3B"/>
                </a:solidFill>
                <a:latin typeface="Calibri"/>
              </a:defRPr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CEO Dashboard — </a:t>
            </a: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เห็นทุกอย่าง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FFFFFF"/>
                </a:solidFill>
                <a:latin typeface="Arial"/>
                <a:cs typeface="Arial"/>
              </a:rPr>
              <a:t>ตัดสินใจทันที</a:t>
            </a:r>
            <a:endParaRPr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Hospital Claim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AI Claim Guardian — ลด Deny เพิ่มรายได้ ทำมากขึ้นด้วยทรัพยากรที่น้อยลง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22860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AI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3291840"/>
            <a:ext cx="22860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91840"/>
            <a:ext cx="22860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แผนก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3291840"/>
            <a:ext cx="22860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59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&lt; 5 นาที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ต่อเคส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537"/>
                </a:solidFill>
                <a:latin typeface="Calibri"/>
              </a:defRPr>
            </a:pPr>
            <a:r>
              <a:rPr b="1">
                <a:solidFill>
                  <a:srgbClr val="003A70"/>
                </a:solidFill>
                <a:latin typeface="Georgia"/>
              </a:rPr>
              <a:t>เริ่มจาก 1 แผนก → ทั้ง รพ. → ทั้ง BDMS → ทั้งประเทศ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Calibri"/>
              </a:defRPr>
            </a:pPr>
            <a:r>
              <a:rPr>
                <a:solidFill>
                  <a:srgbClr val="1A1A1A"/>
                </a:solidFill>
                <a:latin typeface="Arial"/>
                <a:cs typeface="Arial"/>
              </a:rPr>
              <a:t>นพ.เกษมสันต์ เกษมวงศ์  |  kasemson_kas@phyathai.com  |  083-574-7685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0" y="6419088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F3B"/>
                </a:solidFill>
                <a:latin typeface="Calibri"/>
              </a:defRPr>
            </a:pPr>
            <a:r>
              <a:rPr>
                <a:solidFill>
                  <a:srgbClr val="FFFFFF"/>
                </a:solidFill>
                <a:latin typeface="Arial"/>
                <a:cs typeface="Arial"/>
              </a:rPr>
              <a:t>The Ppitch Awards 2026  |  G5 Passion to Innovate  |  โรงพยาบาลพญาไทศรีราชา  |  BDMS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FFD09B-3FE2-2243-AC90-FB0EFB4462FF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1052</Words>
  <Application>Microsoft Macintosh PowerPoint</Application>
  <PresentationFormat>Widescreen</PresentationFormat>
  <Paragraphs>187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Kasemson Kasemwong</cp:lastModifiedBy>
  <cp:revision>4</cp:revision>
  <dcterms:created xsi:type="dcterms:W3CDTF">2013-01-27T09:14:16Z</dcterms:created>
  <dcterms:modified xsi:type="dcterms:W3CDTF">2026-03-28T04:11:48Z</dcterms:modified>
  <cp:category/>
</cp:coreProperties>
</file>