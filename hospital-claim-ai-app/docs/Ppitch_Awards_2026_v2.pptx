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26"/>
  </p:normalViewPr>
  <p:slideViewPr>
    <p:cSldViewPr snapToGrid="0" snapToObjects="1">
      <p:cViewPr varScale="1">
        <p:scale>
          <a:sx n="103" d="100"/>
          <a:sy n="103" d="100"/>
        </p:scale>
        <p:origin x="200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0" y="731520"/>
            <a:ext cx="4480560" cy="548640"/>
          </a:xfrm>
          <a:prstGeom prst="roundRect">
            <a:avLst/>
          </a:prstGeom>
          <a:solidFill>
            <a:srgbClr val="F0B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0" y="749808"/>
            <a:ext cx="448056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D1B2A"/>
                </a:solidFill>
                <a:latin typeface="Arial"/>
              </a:defRPr>
            </a:pPr>
            <a:r>
              <a:t>HIGH PERFORMANCE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FFFFF"/>
                </a:solidFill>
                <a:latin typeface="Arial"/>
              </a:defRPr>
            </a:pPr>
            <a:r>
              <a:t>Hospital Claim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F0B940"/>
                </a:solidFill>
                <a:latin typeface="Arial"/>
              </a:defRPr>
            </a:pPr>
            <a:r>
              <a:t>AI ตรวจ Claim อัตโนมัติ — ลด Deny เพิ่มรายได้ ครบทุกกองทุน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114800"/>
            <a:ext cx="2103120" cy="457200"/>
          </a:xfrm>
          <a:prstGeom prst="roundRect">
            <a:avLst/>
          </a:prstGeom>
          <a:solidFill>
            <a:srgbClr val="3A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4133087"/>
            <a:ext cx="210312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ประกันสังคม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4114800"/>
            <a:ext cx="2103120" cy="457200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4133087"/>
            <a:ext cx="210312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สปสช./UCEP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114800"/>
            <a:ext cx="2103120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4133087"/>
            <a:ext cx="210312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ประกันเอกชน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9B9B9B"/>
                </a:solidFill>
                <a:latin typeface="Arial"/>
              </a:defRPr>
            </a:pPr>
            <a:r>
              <a:t>โรงพยาบาลพญาไทศรีราชา  |  BDMS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แผนกศัลยกรรมหัวใจและทรวงอก  |  นพ.เกษมสันต์ เกษมวงศ์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17920"/>
            <a:ext cx="12191695" cy="54864"/>
          </a:xfrm>
          <a:prstGeom prst="rect">
            <a:avLst/>
          </a:prstGeom>
          <a:solidFill>
            <a:srgbClr val="F0B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0" y="6355080"/>
            <a:ext cx="12191695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0B940"/>
                </a:solidFill>
                <a:latin typeface="Arial"/>
              </a:defRPr>
            </a:pPr>
            <a:r>
              <a:t>The Ppitch Awards 2026  |  G5 Passion to Innovate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4D4D"/>
                </a:solidFill>
                <a:latin typeface="Arial"/>
              </a:defRPr>
            </a:pPr>
            <a:r>
              <a:t>ปัญหา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9B9B9B"/>
                </a:solidFill>
                <a:latin typeface="Arial"/>
              </a:defRPr>
            </a:pPr>
            <a:r>
              <a:t>ทุกเดือน รพ. สูญเสียรายได้จาก Claim ถูก Deny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2286000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265176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~10%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265176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Deny Rate เฉลี่ย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651760" cy="2286000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1783080"/>
            <a:ext cx="265176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4.8M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429000"/>
            <a:ext cx="265176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บาท/ปี สูญเสีย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265176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265176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30 นาที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429000"/>
            <a:ext cx="265176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ตรวจ Manual 1 เคส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645920"/>
            <a:ext cx="265176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0" y="1783080"/>
            <a:ext cx="265176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2 ชม.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429000"/>
            <a:ext cx="265176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ร่าง Appeal 1 เคส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0B940"/>
                </a:solidFill>
                <a:latin typeface="Arial"/>
              </a:defRPr>
            </a:pPr>
            <a:r>
              <a:t>สาเหตุหลัก: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54864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  ICD Coding ไม่สอดคล้องกับหัตถการ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46320"/>
            <a:ext cx="54864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  เอกสารอุปกรณ์ไม่ครบ (ADP/GPO/VMI)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54864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  ตรวจ Manual เปิดหลายระบบ ผิดพลาดง่าย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486400"/>
            <a:ext cx="54864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  อุทธรณ์ไม่ทัน 15 วัน ร่างหนังสือนาน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Solution — AI ตรวจ 8 จุดอัตโนมัติ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0B940"/>
                </a:solidFill>
                <a:latin typeface="Arial"/>
              </a:defRPr>
            </a:pPr>
            <a:r>
              <a:t>จาก 30 นาที เหลือไม่ถึง 5 นาที ครอบคลุม 100% ของ checkpoints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34440" y="1600200"/>
            <a:ext cx="777240" cy="777240"/>
          </a:xfrm>
          <a:prstGeom prst="ellipse">
            <a:avLst/>
          </a:prstGeom>
          <a:solidFill>
            <a:srgbClr val="3A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1A2E"/>
                </a:solidFill>
                <a:latin typeface="Arial"/>
              </a:defRPr>
            </a:pPr>
            <a:r>
              <a:t>ข้อมูลพื้นฐาน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B9B9B"/>
                </a:solidFill>
                <a:latin typeface="Arial"/>
              </a:defRPr>
            </a:pPr>
            <a:r>
              <a:t>PDx + CID + วันที่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6304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160520" y="1600200"/>
            <a:ext cx="777240" cy="777240"/>
          </a:xfrm>
          <a:prstGeom prst="ellipse">
            <a:avLst/>
          </a:prstGeom>
          <a:solidFill>
            <a:srgbClr val="3A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1460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1A2E"/>
                </a:solidFill>
                <a:latin typeface="Arial"/>
              </a:defRPr>
            </a:pPr>
            <a:r>
              <a:t>Dx-Proc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7180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B9B9B"/>
                </a:solidFill>
                <a:latin typeface="Arial"/>
              </a:defRPr>
            </a:pPr>
            <a:r>
              <a:t>ICD-10 ↔ ICD-9-CM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86600" y="1600200"/>
            <a:ext cx="777240" cy="777240"/>
          </a:xfrm>
          <a:prstGeom prst="ellipse">
            <a:avLst/>
          </a:prstGeom>
          <a:solidFill>
            <a:srgbClr val="3A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1460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1A2E"/>
                </a:solidFill>
                <a:latin typeface="Arial"/>
              </a:defRPr>
            </a:pPr>
            <a:r>
              <a:t>เอกสารอุปกรณ์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7180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B9B9B"/>
                </a:solidFill>
                <a:latin typeface="Arial"/>
              </a:defRPr>
            </a:pPr>
            <a:r>
              <a:t>Stent + GPO/VMI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46304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12680" y="1600200"/>
            <a:ext cx="777240" cy="777240"/>
          </a:xfrm>
          <a:prstGeom prst="ellipse">
            <a:avLst/>
          </a:prstGeom>
          <a:solidFill>
            <a:srgbClr val="3A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51460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1A2E"/>
                </a:solidFill>
                <a:latin typeface="Arial"/>
              </a:defRPr>
            </a:pPr>
            <a:r>
              <a:t>FDH 16-File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97180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B9B9B"/>
                </a:solidFill>
                <a:latin typeface="Arial"/>
              </a:defRPr>
            </a:pPr>
            <a:r>
              <a:t>Format + LOS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06908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234440" y="4206240"/>
            <a:ext cx="777240" cy="7772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2064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1A2E"/>
                </a:solidFill>
                <a:latin typeface="Arial"/>
              </a:defRPr>
            </a:pPr>
            <a:r>
              <a:t>Timing + Authen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7784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B9B9B"/>
                </a:solidFill>
                <a:latin typeface="Arial"/>
              </a:defRPr>
            </a:pPr>
            <a:r>
              <a:t>30 วัน + Authen 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406908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160520" y="4206240"/>
            <a:ext cx="777240" cy="7772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12064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1A2E"/>
                </a:solidFill>
                <a:latin typeface="Arial"/>
              </a:defRPr>
            </a:pPr>
            <a:r>
              <a:t>CC/MCC Optimize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594360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B9B9B"/>
                </a:solidFill>
                <a:latin typeface="Arial"/>
              </a:defRPr>
            </a:pPr>
            <a:r>
              <a:t>เพิ่ม DRG Weight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6908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086600" y="4206240"/>
            <a:ext cx="777240" cy="7772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dirty="0"/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12064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1A2E"/>
                </a:solidFill>
                <a:latin typeface="Arial"/>
              </a:defRPr>
            </a:pPr>
            <a:r>
              <a:t>DRG 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57784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B9B9B"/>
                </a:solidFill>
                <a:latin typeface="Arial"/>
              </a:defRPr>
            </a:pPr>
            <a:r>
              <a:t>Group + RW ถูกต้อง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4069080"/>
            <a:ext cx="26974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12680" y="4206240"/>
            <a:ext cx="777240" cy="77724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8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9235440" y="5120640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A1A2E"/>
                </a:solidFill>
                <a:latin typeface="Arial"/>
              </a:defRPr>
            </a:pPr>
            <a:r>
              <a:t>Drug/Lab Catalog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0200" y="5923829"/>
            <a:ext cx="25146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B9B9B"/>
                </a:solidFill>
                <a:latin typeface="Arial"/>
              </a:defRPr>
            </a:pPr>
            <a:r>
              <a:rPr dirty="0"/>
              <a:t>TMT + Drug Catalog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6 คำสั่ง — พิมพ์ครั้งเดียว AI จัดการ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9B9B9B"/>
                </a:solidFill>
                <a:latin typeface="Arial"/>
              </a:defRPr>
            </a:pPr>
            <a:r>
              <a:t>เจ้าหน้าที่ใช้งานง่าย ไม่ต้องเรียนนาน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3520440" cy="2286000"/>
          </a:xfrm>
          <a:prstGeom prst="round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560320" cy="502920"/>
          </a:xfrm>
          <a:prstGeom prst="roundRect">
            <a:avLst/>
          </a:prstGeom>
          <a:solidFill>
            <a:srgbClr val="3A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/claim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0175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ตรวจก่อนส่ง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0175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Score 0-100%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63040"/>
            <a:ext cx="3520440" cy="2286000"/>
          </a:xfrm>
          <a:prstGeom prst="round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2560320" cy="502920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664208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/claim 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30175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ทำนาย Deny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34640"/>
            <a:ext cx="30175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10 Risk Factors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520440" cy="2286000"/>
          </a:xfrm>
          <a:prstGeom prst="round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21040" y="1645920"/>
            <a:ext cx="2560320" cy="50292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664208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/claim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0175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Smart 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30175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Notes → ICD อัตโนมัติ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069080"/>
            <a:ext cx="3520440" cy="2286000"/>
          </a:xfrm>
          <a:prstGeom prst="round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2560320" cy="502920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270248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/claim deny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30175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วิเคราะห์ Deny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40680"/>
            <a:ext cx="30175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Root Cause + วิธีแก้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4069080"/>
            <a:ext cx="3520440" cy="2286000"/>
          </a:xfrm>
          <a:prstGeom prst="round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434840" y="4251960"/>
            <a:ext cx="2560320" cy="5029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4270248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/claim appeal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937760"/>
            <a:ext cx="30175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ร่าง Appeal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440680"/>
            <a:ext cx="30175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DOCX พร้อมพิมพ์ลงนาม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069080"/>
            <a:ext cx="3520440" cy="2286000"/>
          </a:xfrm>
          <a:prstGeom prst="round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4251960"/>
            <a:ext cx="256032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4270248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/claim batch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937760"/>
            <a:ext cx="30175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ตรวจทั้งล็อต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440680"/>
            <a:ext cx="30175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CSV → เรียงตามมูลค่า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ก่อน vs หลัง — ผลต่างชัดเจน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645920" y="1600200"/>
            <a:ext cx="3017520" cy="548640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627632"/>
            <a:ext cx="301752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56032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4D4D"/>
                </a:solidFill>
                <a:latin typeface="Arial"/>
              </a:defRPr>
            </a:pPr>
            <a:r>
              <a:t>30 นาที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423160"/>
            <a:ext cx="22860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2E"/>
                </a:solidFill>
                <a:latin typeface="Arial"/>
              </a:defRPr>
            </a:pPr>
            <a:r>
              <a:t>ตรวจ 1 เคส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256032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4D4D"/>
                </a:solidFill>
                <a:latin typeface="Arial"/>
              </a:defRPr>
            </a:pPr>
            <a:r>
              <a:t>~10%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474720"/>
            <a:ext cx="22860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2E"/>
                </a:solidFill>
                <a:latin typeface="Arial"/>
              </a:defRPr>
            </a:pPr>
            <a:r>
              <a:t>Deny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256032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4D4D"/>
                </a:solidFill>
                <a:latin typeface="Arial"/>
              </a:defRPr>
            </a:pPr>
            <a:r>
              <a:t>2 ชม.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526280"/>
            <a:ext cx="22860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2E"/>
                </a:solidFill>
                <a:latin typeface="Arial"/>
              </a:defRPr>
            </a:pPr>
            <a:r>
              <a:t>ร่าง Appeal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19"/>
            <a:ext cx="256032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4D4D"/>
                </a:solidFill>
                <a:latin typeface="Arial"/>
              </a:defRPr>
            </a:pPr>
            <a:r>
              <a:t>-4.8M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577839"/>
            <a:ext cx="22860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2E"/>
                </a:solidFill>
                <a:latin typeface="Arial"/>
              </a:defRPr>
            </a:pPr>
            <a:r>
              <a:t>สูญเสีย/ปี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4864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06640" y="1600200"/>
            <a:ext cx="3017520" cy="54864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1627632"/>
            <a:ext cx="3017520" cy="5029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AFTER —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77440"/>
            <a:ext cx="256032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C97B"/>
                </a:solidFill>
                <a:latin typeface="Arial"/>
              </a:defRPr>
            </a:pPr>
            <a:r>
              <a:t>5 นาที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23160"/>
            <a:ext cx="22860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2E"/>
                </a:solidFill>
                <a:latin typeface="Arial"/>
              </a:defRPr>
            </a:pPr>
            <a:r>
              <a:t>ตรวจ 1 เคส (-83%)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29000"/>
            <a:ext cx="256032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C97B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474720"/>
            <a:ext cx="22860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2E"/>
                </a:solidFill>
                <a:latin typeface="Arial"/>
              </a:defRPr>
            </a:pPr>
            <a:r>
              <a:t>Deny Rate (target)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80560"/>
            <a:ext cx="256032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C97B"/>
                </a:solidFill>
                <a:latin typeface="Arial"/>
              </a:defRPr>
            </a:pPr>
            <a:r>
              <a:t>5 นาที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526280"/>
            <a:ext cx="22860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2E"/>
                </a:solidFill>
                <a:latin typeface="Arial"/>
              </a:defRPr>
            </a:pPr>
            <a:r>
              <a:t>Appeal + DOCX (-96%)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532119"/>
            <a:ext cx="256032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C97B"/>
                </a:solidFill>
                <a:latin typeface="Arial"/>
              </a:defRPr>
            </a:pPr>
            <a:r>
              <a:t>+2.5M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5577839"/>
            <a:ext cx="22860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A1A2E"/>
                </a:solidFill>
                <a:latin typeface="Arial"/>
              </a:defRPr>
            </a:pPr>
            <a:r>
              <a:t>รายได้เพิ่ม/ปี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เคสจริง — STEMI Anterior + PCI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669280" cy="3931920"/>
          </a:xfrm>
          <a:prstGeom prst="round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B940"/>
                </a:solidFill>
                <a:latin typeface="Arial"/>
              </a:defRPr>
            </a:pPr>
            <a:r>
              <a:t>AN 69-03556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12064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PDx: I21.0 Acute MI anterior 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12064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Proc: 36.06 + 37.22 + 88.56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DRG: 05290 | RW: 8.6544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19"/>
            <a:ext cx="512064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Charge: 71,322 บาท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512064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สิทธิ: UC (UCEP ฉุกเฉิน)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5120640" cy="457200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590288"/>
            <a:ext cx="512064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Deny: HC09 + HC13 + Drug Code ไม่ตรง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97280"/>
            <a:ext cx="5303520" cy="3931920"/>
          </a:xfrm>
          <a:prstGeom prst="round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188720"/>
            <a:ext cx="47548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C97B"/>
                </a:solidFill>
                <a:latin typeface="Arial"/>
              </a:defRPr>
            </a:pPr>
            <a:r>
              <a:t>AI วิเคราะห์ + แนะนำ: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แก้ ADP: TYPE=5, Serial ตรง GPO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77440"/>
            <a:ext cx="47548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แก้ DRU: map TMT code ใหม่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26080"/>
            <a:ext cx="47548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เพิ่ม CC: E11.65 (DM) → +8% RW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474719"/>
            <a:ext cx="47548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สร้าง DOCX Appeal พร้อมส่ง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114800"/>
            <a:ext cx="2377440" cy="1828800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251960"/>
            <a:ext cx="237744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65%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440680"/>
            <a:ext cx="237744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Deny Risk ก่อน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4114800"/>
            <a:ext cx="2377440" cy="182880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4251960"/>
            <a:ext cx="237744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440680"/>
            <a:ext cx="237744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Deny Risk หลัง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0B940"/>
                </a:solidFill>
                <a:latin typeface="Arial"/>
              </a:defRPr>
            </a:pPr>
            <a:r>
              <a:t>ผลลัพธ์ที่วัดได้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651760" cy="237744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265176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&gt;90%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71800"/>
            <a:ext cx="265176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อัตราเบิกผ่านเพิ่มขึ้น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097280"/>
            <a:ext cx="2651760" cy="2377440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0" y="1234440"/>
            <a:ext cx="265176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+15%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971800"/>
            <a:ext cx="265176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DRG Weight เพิ่ม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2651760" cy="2377440"/>
          </a:xfrm>
          <a:prstGeom prst="roundRect">
            <a:avLst/>
          </a:prstGeom>
          <a:solidFill>
            <a:srgbClr val="3A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265176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-83%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971800"/>
            <a:ext cx="265176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ลดเวลาตรวจ Claim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097280"/>
            <a:ext cx="2651760" cy="2377440"/>
          </a:xfrm>
          <a:prstGeom prst="roundRect">
            <a:avLst/>
          </a:prstGeom>
          <a:solidFill>
            <a:srgbClr val="F0B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1234440"/>
            <a:ext cx="265176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2.5M+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971800"/>
            <a:ext cx="265176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บาท/ปี รายได้เพิ่ม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749039"/>
            <a:ext cx="12191695" cy="54864"/>
          </a:xfrm>
          <a:prstGeom prst="rect">
            <a:avLst/>
          </a:prstGeom>
          <a:solidFill>
            <a:srgbClr val="F0B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34747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ตรวจ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114800"/>
            <a:ext cx="41148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9B9B9B"/>
                </a:solidFill>
                <a:latin typeface="Arial"/>
              </a:defRPr>
            </a:pPr>
            <a:r>
              <a:t>30 นาที → 5 นาที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114800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0B940"/>
                </a:solidFill>
                <a:latin typeface="Arial"/>
              </a:defRPr>
            </a:pPr>
            <a:r>
              <a:t>ลด 83%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34747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ร่าง Appeal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54880"/>
            <a:ext cx="41148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9B9B9B"/>
                </a:solidFill>
                <a:latin typeface="Arial"/>
              </a:defRPr>
            </a:pPr>
            <a:r>
              <a:t>2 ชม. → 5 นาที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754880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0B940"/>
                </a:solidFill>
                <a:latin typeface="Arial"/>
              </a:defRPr>
            </a:pPr>
            <a:r>
              <a:t>ลด 96%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34747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ครอบคลุม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394960"/>
            <a:ext cx="41148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9B9B9B"/>
                </a:solidFill>
                <a:latin typeface="Arial"/>
              </a:defRPr>
            </a:pPr>
            <a:r>
              <a:t>9 แผนก + 3 กองทุน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394960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0B940"/>
                </a:solidFill>
                <a:latin typeface="Arial"/>
              </a:defRPr>
            </a:pPr>
            <a:r>
              <a:t>20 AI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35039"/>
            <a:ext cx="34747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ระบบ Knowledge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6035039"/>
            <a:ext cx="41148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9B9B9B"/>
                </a:solidFill>
                <a:latin typeface="Arial"/>
              </a:defRPr>
            </a:pPr>
            <a:r>
              <a:t>25+ ไฟล์ อัพเดตได้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035039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0B940"/>
                </a:solidFill>
                <a:latin typeface="Arial"/>
              </a:defRPr>
            </a:pPr>
            <a:r>
              <a:t>Thai DRG v6.3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ความร่วมมือ &amp; แผนขยายผล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0B940"/>
                </a:solidFill>
                <a:latin typeface="Arial"/>
              </a:defRPr>
            </a:pPr>
            <a:r>
              <a:t>Co-creation ข้ามทีม + Roadmap 4 Phases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5577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B4A0"/>
                </a:solidFill>
                <a:latin typeface="Arial"/>
              </a:defRPr>
            </a:pPr>
            <a:r>
              <a:t>ร่วมพัฒนากับ: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01168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2E"/>
                </a:solidFill>
                <a:latin typeface="Arial"/>
              </a:defRPr>
            </a:pPr>
            <a:r>
              <a:t>Cath Lab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03120"/>
            <a:ext cx="30175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ข้อมูล clinical + validate ผล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01168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2E"/>
                </a:solidFill>
                <a:latin typeface="Arial"/>
              </a:defRPr>
            </a:pPr>
            <a:r>
              <a:t>IT / HIS (SSB)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60320"/>
            <a:ext cx="30175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Infrastructure + data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01168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2E"/>
                </a:solidFill>
                <a:latin typeface="Arial"/>
              </a:defRPr>
            </a:pPr>
            <a:r>
              <a:t>UR / 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17520"/>
            <a:ext cx="30175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ทดสอบ + feedback ทุกสัปดาห์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57784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B4A0"/>
                </a:solidFill>
                <a:latin typeface="Arial"/>
              </a:defRPr>
            </a:pPr>
            <a:r>
              <a:t>รองรับ 3 กองทุน (DRG logic เดียวกัน):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25603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2E"/>
                </a:solidFill>
                <a:latin typeface="Arial"/>
              </a:defRPr>
            </a:pPr>
            <a:r>
              <a:t>ประกันสังคม (SSO)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103120"/>
            <a:ext cx="246888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เคสหลักของ รพ.เอกชน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25603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2E"/>
                </a:solidFill>
                <a:latin typeface="Arial"/>
              </a:defRPr>
            </a:pPr>
            <a:r>
              <a:t>สปสช. / UCEP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560320"/>
            <a:ext cx="246888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เคสฉุกเฉิน บัตรทอง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17520"/>
            <a:ext cx="25603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1A2E"/>
                </a:solidFill>
                <a:latin typeface="Arial"/>
              </a:defRPr>
            </a:pPr>
            <a:r>
              <a:t>ประกันเอกชน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017520"/>
            <a:ext cx="246888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ขยาย Phase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931920"/>
            <a:ext cx="2743200" cy="2560320"/>
          </a:xfrm>
          <a:prstGeom prst="roundRect">
            <a:avLst/>
          </a:prstGeom>
          <a:solidFill>
            <a:srgbClr val="3A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023360"/>
            <a:ext cx="27432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43484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Q3-Q4/69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37760"/>
            <a:ext cx="2743200" cy="10972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ขยายทุก 9 แผนก</a:t>
            </a:r>
            <a:br/>
            <a:r>
              <a:t>ภายใน รพ.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931920"/>
            <a:ext cx="2743200" cy="2560320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37560" y="4023360"/>
            <a:ext cx="27432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43484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ปี 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937760"/>
            <a:ext cx="2743200" cy="10972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+ ประกันสังคม</a:t>
            </a:r>
            <a:br/>
            <a:r>
              <a:t>BDMS 3-5 รพ.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931920"/>
            <a:ext cx="2743200" cy="25603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4023360"/>
            <a:ext cx="27432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43484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ปี 71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937760"/>
            <a:ext cx="2743200" cy="10972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SaaS Platform</a:t>
            </a:r>
            <a:br/>
            <a:r>
              <a:t>+ ประกันเอกชน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3931920"/>
            <a:ext cx="2743200" cy="2560320"/>
          </a:xfrm>
          <a:prstGeom prst="roundRect">
            <a:avLst/>
          </a:prstGeom>
          <a:solidFill>
            <a:srgbClr val="F0B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81160" y="4023360"/>
            <a:ext cx="274320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Phase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434840"/>
            <a:ext cx="274320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ปี 72-73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937760"/>
            <a:ext cx="2743200" cy="10972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รพ. นอกเครือ</a:t>
            </a:r>
            <a:br/>
            <a:r>
              <a:t>NLP Thai auto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0B940"/>
                </a:solidFill>
                <a:latin typeface="Arial"/>
              </a:defRPr>
            </a:pPr>
            <a:r>
              <a:t>Vision — AI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Claim AI คือ Module แรก ของสมองกลาง รพ.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383280" cy="182880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34640" y="1554480"/>
            <a:ext cx="914400" cy="32004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0" y="1572768"/>
            <a:ext cx="9144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011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Claim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017520" cy="731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ลด Deny</a:t>
            </a:r>
            <a:br/>
            <a:r>
              <a:t>เพิ่มรายได้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828800"/>
          </a:xfrm>
          <a:prstGeom prst="roundRect">
            <a:avLst/>
          </a:prstGeom>
          <a:solidFill>
            <a:srgbClr val="3A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75120" y="1554480"/>
            <a:ext cx="914400" cy="320040"/>
          </a:xfrm>
          <a:prstGeom prst="roundRect">
            <a:avLst/>
          </a:prstGeom>
          <a:solidFill>
            <a:srgbClr val="3A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572768"/>
            <a:ext cx="9144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2011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Bed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017520" cy="731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จัดเตียง</a:t>
            </a:r>
            <a:br/>
            <a:r>
              <a:t>ลด Wait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383280" cy="1828800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15600" y="1554480"/>
            <a:ext cx="914400" cy="320040"/>
          </a:xfrm>
          <a:prstGeom prst="round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0" y="1572768"/>
            <a:ext cx="9144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600200"/>
            <a:ext cx="2011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Staff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011680"/>
            <a:ext cx="3017520" cy="731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จัดเวร</a:t>
            </a:r>
            <a:br/>
            <a:r>
              <a:t>ลด OT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3383280" cy="18288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834640" y="3749040"/>
            <a:ext cx="914400" cy="320040"/>
          </a:xfrm>
          <a:prstGeom prst="round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4640" y="3767328"/>
            <a:ext cx="9144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94760"/>
            <a:ext cx="2011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Supply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3017520" cy="731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คลังยา/วัสดุ</a:t>
            </a:r>
            <a:br/>
            <a:r>
              <a:t>ลด Stock-out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657600"/>
            <a:ext cx="3383280" cy="1828800"/>
          </a:xfrm>
          <a:prstGeom prst="roundRect">
            <a:avLst/>
          </a:prstGeom>
          <a:solidFill>
            <a:srgbClr val="F0B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675120" y="3749040"/>
            <a:ext cx="914400" cy="320040"/>
          </a:xfrm>
          <a:prstGeom prst="round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3767328"/>
            <a:ext cx="9144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794760"/>
            <a:ext cx="2011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Finance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06240"/>
            <a:ext cx="3017520" cy="731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งบประมาณ</a:t>
            </a:r>
            <a:br/>
            <a:r>
              <a:t>Cashflow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657600"/>
            <a:ext cx="3383280" cy="18288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15600" y="3749040"/>
            <a:ext cx="914400" cy="320040"/>
          </a:xfrm>
          <a:prstGeom prst="round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0" y="3767328"/>
            <a:ext cx="9144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794760"/>
            <a:ext cx="201168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Quality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06240"/>
            <a:ext cx="3017520" cy="7315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JCI/HA</a:t>
            </a:r>
            <a:br/>
            <a:r>
              <a:t>KPI Monitor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760720"/>
            <a:ext cx="12191695" cy="54864"/>
          </a:xfrm>
          <a:prstGeom prst="rect">
            <a:avLst/>
          </a:prstGeom>
          <a:solidFill>
            <a:srgbClr val="F0B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926080" y="5943600"/>
            <a:ext cx="6309360" cy="640080"/>
          </a:xfrm>
          <a:prstGeom prst="roundRect">
            <a:avLst/>
          </a:prstGeom>
          <a:solidFill>
            <a:srgbClr val="F0B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26080" y="5971032"/>
            <a:ext cx="6309360" cy="5943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D1B2A"/>
                </a:solidFill>
                <a:latin typeface="Arial"/>
              </a:defRPr>
            </a:pPr>
            <a:r>
              <a:t>CEO Dashboard — เห็นทุกอย่าง ตัดสินใจทันที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B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1371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FFFFF"/>
                </a:solidFill>
                <a:latin typeface="Arial"/>
              </a:defRPr>
            </a:pPr>
            <a:r>
              <a:t>Hospital Claim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F0B940"/>
                </a:solidFill>
                <a:latin typeface="Arial"/>
              </a:defRPr>
            </a:pPr>
            <a:r>
              <a:t>ลด Deny เพิ่มรายได้ ครบทุกกองทุน ทุกแผนก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2560320" cy="1645920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256032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256032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AI Skills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017520"/>
            <a:ext cx="2560320" cy="1645920"/>
          </a:xfrm>
          <a:prstGeom prst="roundRect">
            <a:avLst/>
          </a:prstGeom>
          <a:solidFill>
            <a:srgbClr val="3A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3154680"/>
            <a:ext cx="256032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160520"/>
            <a:ext cx="256032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กองทุน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017520"/>
            <a:ext cx="2560320" cy="164592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256032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256032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แผนก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3017520"/>
            <a:ext cx="2560320" cy="16459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3154680"/>
            <a:ext cx="2560320" cy="9144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&lt;5m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160520"/>
            <a:ext cx="2560320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ต่อเคส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B940"/>
                </a:solidFill>
                <a:latin typeface="Arial"/>
              </a:defRPr>
            </a:pPr>
            <a:r>
              <a:t>1 แผนก → ทุกกองทุน → ทั้ง BDMS → ทั้งประเทศ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B9B9B"/>
                </a:solidFill>
                <a:latin typeface="Arial"/>
              </a:defRPr>
            </a:pPr>
            <a:r>
              <a:t>นพ.เกษมสันต์ เกษมวงศ์  |  kasemson_kas@phyathai.com  |  083-574-7685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63640"/>
            <a:ext cx="12191695" cy="54864"/>
          </a:xfrm>
          <a:prstGeom prst="rect">
            <a:avLst/>
          </a:prstGeom>
          <a:solidFill>
            <a:srgbClr val="F0B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0" y="6355080"/>
            <a:ext cx="12191695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0B940"/>
                </a:solidFill>
                <a:latin typeface="Arial"/>
              </a:defRPr>
            </a:pPr>
            <a:r>
              <a:t>The Ppitch Awards 2026  |  G5 Passion to Innovate  |  BDMS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752</Words>
  <Application>Microsoft Macintosh PowerPoint</Application>
  <PresentationFormat>Widescreen</PresentationFormat>
  <Paragraphs>189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Kasemson Kasemwong</cp:lastModifiedBy>
  <cp:revision>2</cp:revision>
  <dcterms:created xsi:type="dcterms:W3CDTF">2013-01-27T09:14:16Z</dcterms:created>
  <dcterms:modified xsi:type="dcterms:W3CDTF">2026-03-28T04:23:21Z</dcterms:modified>
  <cp:category/>
</cp:coreProperties>
</file>